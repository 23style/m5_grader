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9456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B2A91-57CE-636E-968C-2F7058864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541117-D52A-42B9-24FD-E7BAE135C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BA5BC-93D6-58BA-F9D4-346E6D16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25C857-4216-CD68-D089-45AA608A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072EF2-9505-FA18-0939-DFA28D88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9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556ED-AFC6-7659-EDEB-CA662E0E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0BA1D9-878E-ACE3-81C1-B3D92458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861B5C-E58C-7B0A-78FF-DD4268F3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EF2BBB-4B94-6A00-C20E-78FD9253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AD47F-9E6A-AC8A-6561-7970B701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01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B287F-47B7-7C33-C3FC-9B346FA16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A411D-203B-0C73-7E70-981799D75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312F77-5253-147C-6597-D4AFB6D9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9B549B-6B0A-DAA0-7FD7-8DD345E4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10E0B2-8F31-C600-27CF-D95045EB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820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D2314E-5A01-6ABA-820F-52AB80EE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870737-B43E-15A5-AD63-B51B995B9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5492F2-C59B-C2C6-1BF2-1BEDA9D49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1C74EA-26F6-3796-1772-2D198894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2BEEE2-2D9F-ACD9-20F2-FD89673B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376CA0-A66F-C173-E1F1-85C226B3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47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2CA78-61B8-3B90-732D-FFC1E4A5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5B2B9B-EEB6-BB62-856A-FA6417888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B289C5-725F-6F7B-EDB2-E537075F3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0187CA-2F78-D051-875F-37DD248F5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E57484-6027-B534-446E-4A3152872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193D85-8F83-137A-5E5A-65E1D76F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1504AA-FBAA-1279-3A36-A29DBDA2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ECEFFD-A7B9-A327-7F36-EE0B9D1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770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586888-3338-7238-557B-1A7A0F04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511091-570C-76B5-553B-CDF5980F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C4D16E-1689-15E2-771F-10FE843A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3F9A11-10A6-F131-168D-70E249E1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85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729337-D56B-B49B-39AA-D803BDE3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2329B1-A813-391C-D489-914BC961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E92C65-DB73-5160-AFBD-62FDFDD0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63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02E2EC-3DD9-B9A7-107E-DA6081D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986B64-1C36-859F-9AB5-F0478564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0A733A-7E94-BBDF-7ABC-ECAA7AFF2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C91AA2-F4D3-DDF5-88E2-BA325293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326514-E4BA-394C-F992-03D4D46A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37ED02-CC4F-53D5-2FE2-2D059F9D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38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A96ADB-7768-E58E-905E-08CEBA9AF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00581E5-7BE2-C244-8783-8DF0F26B8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730D46-E8F3-C8C8-C70B-CAD4CD7AE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D6A190-DB02-D359-BE08-45F8AC0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20FE61-0CBC-4951-75A0-A342CD6F0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67272E-81C5-D8D1-0455-BE3FEF78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16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B8F7C0-8F8B-E1CC-D1FF-043DB2C1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B8FBDB-9A45-CBC2-C418-404000950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49FB25-4A35-EAA7-9AA5-CC9AFCCF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A70927-BFC3-65BB-EB20-4F646868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BD18DF-5731-703B-455B-CA9A6518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76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9317272-E682-92B4-0EAF-0333707E9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F88C58-97A6-905B-9C71-29128B1C1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255EE9-81FF-6529-2CBE-05CE8D0D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C898F5-3653-75D1-7DE0-0BE5620C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F8DA60-A0E7-E9C1-3D05-30C5F9A9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68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E6570D-804D-C65D-2148-6665B319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72285D-1079-A23E-2235-EBF96821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231EB2-313F-71A2-D464-E66329168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1EC32-91A8-4471-A4C4-4DAE8C55690C}" type="datetimeFigureOut">
              <a:rPr kumimoji="1" lang="ja-JP" altLang="en-US" smtClean="0"/>
              <a:t>2025/10/3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58ED52-E376-EA21-6B6C-8EE53ECF5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EC416D-99EF-098F-234B-508CF544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94DA1-5B33-4A5C-B62F-89BB32DC2E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26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liexpress.com/item/1005006827930173.html?spm=a2g0o.order_list.order_list_main.49.2ff01802kwft8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3F3701D6-AAD1-9FF5-4084-647BCDA94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892515"/>
              </p:ext>
            </p:extLst>
          </p:nvPr>
        </p:nvGraphicFramePr>
        <p:xfrm>
          <a:off x="692338" y="1102417"/>
          <a:ext cx="7121625" cy="4539022"/>
        </p:xfrm>
        <a:graphic>
          <a:graphicData uri="http://schemas.openxmlformats.org/drawingml/2006/table">
            <a:tbl>
              <a:tblPr/>
              <a:tblGrid>
                <a:gridCol w="2373875">
                  <a:extLst>
                    <a:ext uri="{9D8B030D-6E8A-4147-A177-3AD203B41FA5}">
                      <a16:colId xmlns:a16="http://schemas.microsoft.com/office/drawing/2014/main" val="1803432214"/>
                    </a:ext>
                  </a:extLst>
                </a:gridCol>
                <a:gridCol w="2373875">
                  <a:extLst>
                    <a:ext uri="{9D8B030D-6E8A-4147-A177-3AD203B41FA5}">
                      <a16:colId xmlns:a16="http://schemas.microsoft.com/office/drawing/2014/main" val="1172924873"/>
                    </a:ext>
                  </a:extLst>
                </a:gridCol>
                <a:gridCol w="2373875">
                  <a:extLst>
                    <a:ext uri="{9D8B030D-6E8A-4147-A177-3AD203B41FA5}">
                      <a16:colId xmlns:a16="http://schemas.microsoft.com/office/drawing/2014/main" val="1879922117"/>
                    </a:ext>
                  </a:extLst>
                </a:gridCol>
              </a:tblGrid>
              <a:tr h="194223"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</a:rPr>
                        <a:t>部品名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</a:rPr>
                        <a:t>価格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</a:rPr>
                        <a:t>備考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18723"/>
                  </a:ext>
                </a:extLst>
              </a:tr>
              <a:tr h="33988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M5Stack Basic v2.7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</a:rPr>
                        <a:t>7,260</a:t>
                      </a:r>
                      <a:r>
                        <a:rPr lang="ja-JP" altLang="en-US" sz="1200">
                          <a:effectLst/>
                        </a:rPr>
                        <a:t>円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メインユニット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174160"/>
                  </a:ext>
                </a:extLst>
              </a:tr>
              <a:tr h="485556"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</a:rPr>
                        <a:t>M5Stack</a:t>
                      </a:r>
                      <a:r>
                        <a:rPr lang="ja-JP" altLang="en-US" sz="1200">
                          <a:effectLst/>
                        </a:rPr>
                        <a:t>用重さユニット（</a:t>
                      </a:r>
                      <a:r>
                        <a:rPr lang="en-US" altLang="ja-JP" sz="1200">
                          <a:effectLst/>
                        </a:rPr>
                        <a:t>HX711</a:t>
                      </a:r>
                      <a:r>
                        <a:rPr lang="ja-JP" altLang="en-US" sz="1200">
                          <a:effectLst/>
                        </a:rPr>
                        <a:t>）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</a:rPr>
                        <a:t>660</a:t>
                      </a:r>
                      <a:r>
                        <a:rPr lang="ja-JP" altLang="en-US" sz="1200">
                          <a:effectLst/>
                        </a:rPr>
                        <a:t>円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重量センサーの制御ユニット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21538"/>
                  </a:ext>
                </a:extLst>
              </a:tr>
              <a:tr h="1942221"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ロードセル（</a:t>
                      </a:r>
                      <a:r>
                        <a:rPr lang="en-US" altLang="ja-JP" sz="1200">
                          <a:effectLst/>
                        </a:rPr>
                        <a:t>1kg</a:t>
                      </a:r>
                      <a:r>
                        <a:rPr lang="ja-JP" altLang="en-US" sz="1200">
                          <a:effectLst/>
                        </a:rPr>
                        <a:t>用）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dirty="0">
                          <a:effectLst/>
                        </a:rPr>
                        <a:t>400</a:t>
                      </a:r>
                      <a:r>
                        <a:rPr lang="ja-JP" altLang="en-US" sz="1200" dirty="0">
                          <a:effectLst/>
                        </a:rPr>
                        <a:t>円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重量センサー本体　</a:t>
                      </a:r>
                      <a:r>
                        <a:rPr lang="en-US" altLang="ja-JP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Aliexpress)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 u="none" strike="noStrike">
                          <a:solidFill>
                            <a:srgbClr val="666666"/>
                          </a:solidFill>
                          <a:effectLst/>
                          <a:hlinkClick r:id="rId2"/>
                        </a:rPr>
                        <a:t>https://www.aliexpress.com/item/1005006827930173.html?spm=a2g0o.order_list.order_list_main.49.2ff01802kwft8n</a:t>
                      </a:r>
                      <a:endParaRPr lang="en-US" sz="1200">
                        <a:effectLst/>
                      </a:endParaRP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314120"/>
                  </a:ext>
                </a:extLst>
              </a:tr>
              <a:tr h="631222"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マイクロ</a:t>
                      </a:r>
                      <a:r>
                        <a:rPr lang="en-US" altLang="ja-JP" sz="1200">
                          <a:effectLst/>
                        </a:rPr>
                        <a:t>SD</a:t>
                      </a:r>
                      <a:r>
                        <a:rPr lang="ja-JP" altLang="en-US" sz="1200">
                          <a:effectLst/>
                        </a:rPr>
                        <a:t>カード </a:t>
                      </a:r>
                      <a:r>
                        <a:rPr lang="en-US" altLang="ja-JP" sz="1200">
                          <a:effectLst/>
                        </a:rPr>
                        <a:t>(2GB)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</a:rPr>
                        <a:t>500</a:t>
                      </a:r>
                      <a:r>
                        <a:rPr lang="ja-JP" altLang="en-US" sz="1200">
                          <a:effectLst/>
                        </a:rPr>
                        <a:t>円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dirty="0">
                          <a:effectLst/>
                        </a:rPr>
                        <a:t>音声ファイル保存用。</a:t>
                      </a:r>
                      <a:r>
                        <a:rPr lang="en-US" altLang="ja-JP" sz="1200" dirty="0">
                          <a:effectLst/>
                        </a:rPr>
                        <a:t>M5 Stack</a:t>
                      </a:r>
                      <a:r>
                        <a:rPr lang="ja-JP" altLang="en-US" sz="1200" dirty="0">
                          <a:effectLst/>
                        </a:rPr>
                        <a:t>との相性注意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13270"/>
                  </a:ext>
                </a:extLst>
              </a:tr>
              <a:tr h="33988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M3x5 </a:t>
                      </a:r>
                      <a:r>
                        <a:rPr lang="ja-JP" altLang="en-US" sz="1200">
                          <a:effectLst/>
                        </a:rPr>
                        <a:t>鍋ネジ </a:t>
                      </a:r>
                      <a:r>
                        <a:rPr lang="en-US" sz="1200">
                          <a:effectLst/>
                        </a:rPr>
                        <a:t>x8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</a:rPr>
                        <a:t>-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ケース固定用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04909"/>
                  </a:ext>
                </a:extLst>
              </a:tr>
              <a:tr h="33988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M4x20 </a:t>
                      </a:r>
                      <a:r>
                        <a:rPr lang="ja-JP" altLang="en-US" sz="1200">
                          <a:effectLst/>
                        </a:rPr>
                        <a:t>皿ネジ</a:t>
                      </a:r>
                      <a:r>
                        <a:rPr lang="en-US" sz="1200">
                          <a:effectLst/>
                        </a:rPr>
                        <a:t>x4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</a:rPr>
                        <a:t>-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</a:rPr>
                        <a:t>ロードセル固定用</a:t>
                      </a: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53423"/>
                  </a:ext>
                </a:extLst>
              </a:tr>
              <a:tr h="194223"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</a:rPr>
                        <a:t>合計</a:t>
                      </a:r>
                      <a:endParaRPr lang="ja-JP" altLang="en-US" sz="1200">
                        <a:effectLst/>
                      </a:endParaRP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b="1">
                          <a:effectLst/>
                        </a:rPr>
                        <a:t>8,820</a:t>
                      </a:r>
                      <a:r>
                        <a:rPr lang="ja-JP" altLang="en-US" sz="1200" b="1">
                          <a:effectLst/>
                        </a:rPr>
                        <a:t>円</a:t>
                      </a:r>
                      <a:endParaRPr lang="ja-JP" altLang="en-US" sz="1200">
                        <a:effectLst/>
                      </a:endParaRP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ja-JP" altLang="en-US" sz="1200" dirty="0">
                        <a:effectLst/>
                      </a:endParaRPr>
                    </a:p>
                  </a:txBody>
                  <a:tcPr marL="47297" marR="47297" marT="23649" marB="23649" anchor="ctr">
                    <a:lnL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210911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846BFBFB-944B-EE12-A13E-70C24491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8526D2F-678F-DEB7-070A-1AF2B9CE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634" y="653120"/>
            <a:ext cx="1795477" cy="1795477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DAAEF6-2498-1D76-82C7-61264238D1EB}"/>
              </a:ext>
            </a:extLst>
          </p:cNvPr>
          <p:cNvSpPr txBox="1"/>
          <p:nvPr/>
        </p:nvSpPr>
        <p:spPr>
          <a:xfrm>
            <a:off x="9587213" y="802255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 hub</a:t>
            </a:r>
            <a:endParaRPr kumimoji="1"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6AABC9E-0B58-A26A-1D26-BA176B570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395" y="2582488"/>
            <a:ext cx="1826916" cy="1826916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9084907-5F96-BDAA-1714-A3FDE5F53D64}"/>
              </a:ext>
            </a:extLst>
          </p:cNvPr>
          <p:cNvSpPr txBox="1"/>
          <p:nvPr/>
        </p:nvSpPr>
        <p:spPr>
          <a:xfrm>
            <a:off x="9848663" y="2722918"/>
            <a:ext cx="14077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3D</a:t>
            </a:r>
            <a:r>
              <a:rPr kumimoji="1" lang="ja-JP" altLang="en-US" dirty="0"/>
              <a:t>プリント</a:t>
            </a:r>
            <a:endParaRPr kumimoji="1" lang="en-US" altLang="ja-JP" dirty="0"/>
          </a:p>
          <a:p>
            <a:r>
              <a:rPr kumimoji="1" lang="ja-JP" altLang="en-US" dirty="0"/>
              <a:t>ファイル</a:t>
            </a:r>
            <a:endParaRPr kumimoji="1" lang="en-US" altLang="ja-JP" dirty="0"/>
          </a:p>
          <a:p>
            <a:r>
              <a:rPr lang="en-US" altLang="ja-JP" dirty="0" err="1"/>
              <a:t>Printables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711CA04-7394-DF3A-45DE-CC32BA17470C}"/>
              </a:ext>
            </a:extLst>
          </p:cNvPr>
          <p:cNvSpPr txBox="1"/>
          <p:nvPr/>
        </p:nvSpPr>
        <p:spPr>
          <a:xfrm>
            <a:off x="565264" y="382964"/>
            <a:ext cx="6317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AMF M5 Grader </a:t>
            </a:r>
            <a:r>
              <a:rPr lang="ja-JP" altLang="en-US" sz="2800" b="1" dirty="0"/>
              <a:t>汎用選果機　</a:t>
            </a:r>
            <a:r>
              <a:rPr kumimoji="1" lang="ja-JP" altLang="en-US" sz="2800" b="1" dirty="0"/>
              <a:t>部品表</a:t>
            </a:r>
          </a:p>
        </p:txBody>
      </p:sp>
      <p:pic>
        <p:nvPicPr>
          <p:cNvPr id="18" name="図 17" descr="暗い背景に白い文字が書いてある｜｜｜ｐ&#10;&#10;低い精度で自動的に生成された説明">
            <a:extLst>
              <a:ext uri="{FF2B5EF4-FFF2-40B4-BE49-F238E27FC236}">
                <a16:creationId xmlns:a16="http://schemas.microsoft.com/office/drawing/2014/main" id="{BEACA78F-D881-3FA6-9C6D-FC2827D6F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59" y="5751222"/>
            <a:ext cx="3308466" cy="866184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6047EB0C-E98C-1F4E-7E32-1FF4B2AB1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860" y="4723828"/>
            <a:ext cx="1826916" cy="1826916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926EBB7-C6EB-596F-5A63-70D536CE7BDA}"/>
              </a:ext>
            </a:extLst>
          </p:cNvPr>
          <p:cNvSpPr txBox="1"/>
          <p:nvPr/>
        </p:nvSpPr>
        <p:spPr>
          <a:xfrm>
            <a:off x="9759111" y="4924008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詳細</a:t>
            </a:r>
            <a:endParaRPr kumimoji="1" lang="en-US" altLang="ja-JP" dirty="0"/>
          </a:p>
          <a:p>
            <a:r>
              <a:rPr kumimoji="1" lang="ja-JP" altLang="en-US" dirty="0"/>
              <a:t>（ブログ記事）</a:t>
            </a:r>
          </a:p>
        </p:txBody>
      </p:sp>
    </p:spTree>
    <p:extLst>
      <p:ext uri="{BB962C8B-B14F-4D97-AF65-F5344CB8AC3E}">
        <p14:creationId xmlns:p14="http://schemas.microsoft.com/office/powerpoint/2010/main" val="3065292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119</Words>
  <Application>Microsoft Office PowerPoint</Application>
  <PresentationFormat>ワイド画面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亮輔島影</dc:creator>
  <cp:lastModifiedBy>亮輔島影</cp:lastModifiedBy>
  <cp:revision>2</cp:revision>
  <cp:lastPrinted>2025-10-03T12:39:35Z</cp:lastPrinted>
  <dcterms:created xsi:type="dcterms:W3CDTF">2025-10-03T12:28:30Z</dcterms:created>
  <dcterms:modified xsi:type="dcterms:W3CDTF">2025-10-03T12:39:35Z</dcterms:modified>
</cp:coreProperties>
</file>